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71073" autoAdjust="0"/>
  </p:normalViewPr>
  <p:slideViewPr>
    <p:cSldViewPr snapToGrid="0">
      <p:cViewPr varScale="1">
        <p:scale>
          <a:sx n="55" d="100"/>
          <a:sy n="55" d="100"/>
        </p:scale>
        <p:origin x="1642" y="43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45B0E-A019-4E20-A501-D538DE03334E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409EB-4705-4609-B5AF-0D2BF5A9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0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这一页先把论文定位讲清楚。这是一篇 </a:t>
            </a:r>
            <a:r>
              <a:rPr lang="en-US" altLang="zh-CN" dirty="0"/>
              <a:t>ICLR 2026 </a:t>
            </a:r>
            <a:r>
              <a:rPr lang="zh-CN" altLang="en-US" dirty="0"/>
              <a:t>的论文，题目是 </a:t>
            </a:r>
            <a:r>
              <a:rPr lang="en-US" altLang="zh-CN" dirty="0" err="1"/>
              <a:t>ELLMob</a:t>
            </a:r>
            <a:r>
              <a:rPr lang="zh-CN" altLang="en-US" dirty="0"/>
              <a:t>，研究的是事件驱动的人类移动性生成。我的分享重点不是把它讲成一个普通的 </a:t>
            </a:r>
            <a:r>
              <a:rPr lang="en-US" altLang="zh-CN" dirty="0"/>
              <a:t>LLM </a:t>
            </a:r>
            <a:r>
              <a:rPr lang="zh-CN" altLang="en-US" dirty="0"/>
              <a:t>轨迹生成器，而是讲它如何处理大规模社会性事件下的泛化问题：当台风、疫情、奥运这类事件发生时，人既有自己的日常习惯，又受到外部环境约束，模型需要在这两者之间做调和。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537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要强调论文解决的核心背景：当前轨迹生成模型在常规场景下已经能学到通勤、购物、餐饮等稳定模式，但一旦进入台风、疫情、奥运这种大规模社会性事件，人的移动行为会发生系统性变化。此时问题不只是预测精度下降，而是模型缺少面向事件分布的泛化能力，不能把外部事件约束纳入到人的移动决策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31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这篇论文最值得讲的地方，是它把问题从“怎么让 </a:t>
            </a:r>
            <a:r>
              <a:rPr lang="en-US" altLang="zh-CN"/>
              <a:t>LLM </a:t>
            </a:r>
            <a:r>
              <a:rPr lang="zh-CN" altLang="en-US"/>
              <a:t>生成轨迹”推进到“怎么让模型处理决策冲突”。人在事件中不是完全抛弃日常习惯，也不是机械服从事件约束。比如疫情期间，一个喜欢外出吃饭的人可能不会天天出去，但也未必完全不出门。</a:t>
            </a:r>
            <a:r>
              <a:rPr lang="en-US" altLang="zh-CN"/>
              <a:t>ELLMob </a:t>
            </a:r>
            <a:r>
              <a:rPr lang="zh-CN" altLang="en-US"/>
              <a:t>要解决的就是这种习惯惯性和事件约束之间的调和问题。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950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这一页讲数据贡献。作者构建了 </a:t>
            </a:r>
            <a:r>
              <a:rPr lang="en-US" altLang="zh-CN"/>
              <a:t>EventMob</a:t>
            </a:r>
            <a:r>
              <a:rPr lang="zh-CN" altLang="en-US"/>
              <a:t>，用东京地区的轨迹数据覆盖三类事件：台风、疫情和奥运，同时保留正常时期作为对照。这个数据集的价值在于，它让我们可以真正评估模型在大规模社会事件下的泛化能力，而不是只在平稳日常数据上看平均表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2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这里是方法的理论入口。作者借用了 </a:t>
            </a:r>
            <a:r>
              <a:rPr lang="en-US" altLang="zh-CN" dirty="0"/>
              <a:t>Fuzzy-Trace Theory</a:t>
            </a:r>
            <a:r>
              <a:rPr lang="zh-CN" altLang="en-US" dirty="0"/>
              <a:t>，也就是模糊痕迹理论。它强调人在不确定条件下做决策时，往往不是记住所有细节，而是抓住底层含义。放到移动性生成里，模型也可以把输入压缩成几类 </a:t>
            </a:r>
            <a:r>
              <a:rPr lang="en-US" altLang="zh-CN" dirty="0"/>
              <a:t>gist</a:t>
            </a:r>
            <a:r>
              <a:rPr lang="zh-CN" altLang="en-US" dirty="0"/>
              <a:t>：用户习惯的 </a:t>
            </a:r>
            <a:r>
              <a:rPr lang="en-US" altLang="zh-CN" dirty="0"/>
              <a:t>gist</a:t>
            </a:r>
            <a:r>
              <a:rPr lang="zh-CN" altLang="en-US" dirty="0"/>
              <a:t>、事件约束的 </a:t>
            </a:r>
            <a:r>
              <a:rPr lang="en-US" altLang="zh-CN" dirty="0"/>
              <a:t>gist</a:t>
            </a:r>
            <a:r>
              <a:rPr lang="zh-CN" altLang="en-US" dirty="0"/>
              <a:t>，以及当前行动计划的 </a:t>
            </a:r>
            <a:r>
              <a:rPr lang="en-US" altLang="zh-CN" dirty="0"/>
              <a:t>gist</a:t>
            </a:r>
            <a:r>
              <a:rPr lang="zh-CN" altLang="en-US" dirty="0"/>
              <a:t>。这样决策依据就变得可以审计。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704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这一页看整体框架。</a:t>
            </a:r>
            <a:r>
              <a:rPr lang="en-US" altLang="zh-CN"/>
              <a:t>ELLMob </a:t>
            </a:r>
            <a:r>
              <a:rPr lang="zh-CN" altLang="en-US"/>
              <a:t>不是直接让 </a:t>
            </a:r>
            <a:r>
              <a:rPr lang="en-US" altLang="zh-CN"/>
              <a:t>LLM </a:t>
            </a:r>
            <a:r>
              <a:rPr lang="zh-CN" altLang="en-US"/>
              <a:t>一次性输出最终轨迹，而是先生成一个候选计划，再把这个计划和输入信息都转成 </a:t>
            </a:r>
            <a:r>
              <a:rPr lang="en-US" altLang="zh-CN"/>
              <a:t>gist</a:t>
            </a:r>
            <a:r>
              <a:rPr lang="zh-CN" altLang="en-US"/>
              <a:t>。之后 </a:t>
            </a:r>
            <a:r>
              <a:rPr lang="en-US" altLang="zh-CN"/>
              <a:t>reflection </a:t>
            </a:r>
            <a:r>
              <a:rPr lang="zh-CN" altLang="en-US"/>
              <a:t>模块会判断这个行动是否既符合用户习惯，又符合事件约束。如果不满足，就把具体失败原因反馈回去，让模型重新生成。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205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这一页解释输入侧处理。现实事件通常来自新闻、政策公告或者灾害信息，如果直接丢给 </a:t>
            </a:r>
            <a:r>
              <a:rPr lang="en-US" altLang="zh-CN"/>
              <a:t>LLM</a:t>
            </a:r>
            <a:r>
              <a:rPr lang="zh-CN" altLang="en-US"/>
              <a:t>，模型很容易遗漏关键限制。所以作者先做 </a:t>
            </a:r>
            <a:r>
              <a:rPr lang="en-US" altLang="zh-CN"/>
              <a:t>Event Schema</a:t>
            </a:r>
            <a:r>
              <a:rPr lang="zh-CN" altLang="en-US"/>
              <a:t>，把事件分成四类信息：基本概况、强度规模、基础设施影响和官方指令。这样事件就从一段文本变成了可以影响轨迹生成的结构化约束。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359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这里可以把三类 </a:t>
            </a:r>
            <a:r>
              <a:rPr lang="en-US" altLang="zh-CN" dirty="0"/>
              <a:t>gist </a:t>
            </a:r>
            <a:r>
              <a:rPr lang="zh-CN" altLang="en-US" dirty="0"/>
              <a:t>讲成一个统一语义空间。</a:t>
            </a:r>
            <a:r>
              <a:rPr lang="en-US" altLang="zh-CN" dirty="0"/>
              <a:t>Pattern Gist </a:t>
            </a:r>
            <a:r>
              <a:rPr lang="zh-CN" altLang="en-US" dirty="0"/>
              <a:t>代表这个人平时为什么这样移动，</a:t>
            </a:r>
            <a:r>
              <a:rPr lang="en-US" altLang="zh-CN" dirty="0"/>
              <a:t>Event Gist </a:t>
            </a:r>
            <a:r>
              <a:rPr lang="zh-CN" altLang="en-US" dirty="0"/>
              <a:t>代表外部事件要求他怎么调整，</a:t>
            </a:r>
            <a:r>
              <a:rPr lang="en-US" altLang="zh-CN" dirty="0"/>
              <a:t>Action Gist </a:t>
            </a:r>
            <a:r>
              <a:rPr lang="zh-CN" altLang="en-US" dirty="0"/>
              <a:t>代表模型当前计划背后的理由。只有把这三者放到同一层面，模型才能判断当前行动到底是合理适应，还是违背习惯或违背事件约束。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417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自对齐模块最关键的是两个审计维度。</a:t>
            </a:r>
            <a:r>
              <a:rPr lang="en-US" altLang="zh-CN"/>
              <a:t>Internal alignment </a:t>
            </a:r>
            <a:r>
              <a:rPr lang="zh-CN" altLang="en-US"/>
              <a:t>看候选轨迹是否符合用户自己的行为模式，避免把个体差异完全抹掉。</a:t>
            </a:r>
            <a:r>
              <a:rPr lang="en-US" altLang="zh-CN"/>
              <a:t>External alignment </a:t>
            </a:r>
            <a:r>
              <a:rPr lang="zh-CN" altLang="en-US"/>
              <a:t>看它是否符合事件环境，避免台风天还去危险区域、疫情期间还保持高频社交。只要有一边失败，审计员就给出失败原因，再让生成器根据反馈修正轨迹。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802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实验部分先交代比较对象和评价方式。作者同时比较传统深度学习轨迹模型、生成模型和 </a:t>
            </a:r>
            <a:r>
              <a:rPr lang="en-US" altLang="zh-CN"/>
              <a:t>LLM-based </a:t>
            </a:r>
            <a:r>
              <a:rPr lang="zh-CN" altLang="en-US"/>
              <a:t>方法。评价指标不是单点误差，而是四类分布的 </a:t>
            </a:r>
            <a:r>
              <a:rPr lang="en-US" altLang="zh-CN"/>
              <a:t>Jensen-Shannon Divergence</a:t>
            </a:r>
            <a:r>
              <a:rPr lang="zh-CN" altLang="en-US"/>
              <a:t>，包括时间间隔、移动距离、活动类别和空间网格分布。这样可以更完整地看生成轨迹是否接近真实行为分布。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621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31277-6F6F-6FE6-96D8-34CD9049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D2E7E4-1C50-02A8-9B17-1B4E62E2B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C65063-68E1-25A3-5877-F79D2F6D9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实验部分先交代比较对象和评价方式。作者同时比较传统深度学习轨迹模型、生成模型和 </a:t>
            </a:r>
            <a:r>
              <a:rPr lang="en-US" altLang="zh-CN"/>
              <a:t>LLM-based </a:t>
            </a:r>
            <a:r>
              <a:rPr lang="zh-CN" altLang="en-US"/>
              <a:t>方法。评价指标不是单点误差，而是四类分布的 </a:t>
            </a:r>
            <a:r>
              <a:rPr lang="en-US" altLang="zh-CN"/>
              <a:t>Jensen-Shannon Divergence</a:t>
            </a:r>
            <a:r>
              <a:rPr lang="zh-CN" altLang="en-US"/>
              <a:t>，包括时间间隔、移动距离、活动类别和空间网格分布。这样可以更完整地看生成轨迹是否接近真实行为分布。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4D1316-46D8-BCA8-1840-09BE6B178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515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消融实验回答一个关键问题：</a:t>
            </a:r>
            <a:r>
              <a:rPr lang="en-US" altLang="zh-CN"/>
              <a:t>ELLMob </a:t>
            </a:r>
            <a:r>
              <a:rPr lang="zh-CN" altLang="en-US"/>
              <a:t>的提升到底来自哪里。去掉 </a:t>
            </a:r>
            <a:r>
              <a:rPr lang="en-US" altLang="zh-CN"/>
              <a:t>internal alignment</a:t>
            </a:r>
            <a:r>
              <a:rPr lang="zh-CN" altLang="en-US"/>
              <a:t>，模型可能过度服从事件，把人的习惯完全抹掉；去掉 </a:t>
            </a:r>
            <a:r>
              <a:rPr lang="en-US" altLang="zh-CN"/>
              <a:t>external alignment</a:t>
            </a:r>
            <a:r>
              <a:rPr lang="zh-CN" altLang="en-US"/>
              <a:t>，模型又容易回到日常轨迹，忽略事件限制。</a:t>
            </a:r>
            <a:r>
              <a:rPr lang="en-US" altLang="zh-CN"/>
              <a:t>Fig. 4 </a:t>
            </a:r>
            <a:r>
              <a:rPr lang="zh-CN" altLang="en-US"/>
              <a:t>特别直观地说明，完整模型能在这两种力量之间取得更合理的平衡。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554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个案例非常适合口头讲。用户本来有明显的餐饮探索习惯，模型一开始生成“待在家”，从疫情角度看没问题，但从个人行为模式看太极端。审计员指出它和用户习惯不一致，之后模型修正为有限的餐饮活动。这个例子说明，</a:t>
            </a:r>
            <a:r>
              <a:rPr lang="en-US" altLang="zh-CN"/>
              <a:t>ELLMob </a:t>
            </a:r>
            <a:r>
              <a:rPr lang="zh-CN" altLang="en-US"/>
              <a:t>不是简单地让人少出门，而是在事件约束下保留合理的个体差异。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328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这一页把效果和成本放在一起看。</a:t>
            </a:r>
            <a:r>
              <a:rPr lang="en-US" altLang="zh-CN"/>
              <a:t>Fig. 6 </a:t>
            </a:r>
            <a:r>
              <a:rPr lang="zh-CN" altLang="en-US"/>
              <a:t>显示，在台风和疫情下，</a:t>
            </a:r>
            <a:r>
              <a:rPr lang="en-US" altLang="zh-CN"/>
              <a:t>ELLMob </a:t>
            </a:r>
            <a:r>
              <a:rPr lang="zh-CN" altLang="en-US"/>
              <a:t>的空间热区更接近真实分布，而没有 </a:t>
            </a:r>
            <a:r>
              <a:rPr lang="en-US" altLang="zh-CN"/>
              <a:t>reflection </a:t>
            </a:r>
            <a:r>
              <a:rPr lang="zh-CN" altLang="en-US"/>
              <a:t>或普通 </a:t>
            </a:r>
            <a:r>
              <a:rPr lang="en-US" altLang="zh-CN"/>
              <a:t>LLMOB </a:t>
            </a:r>
            <a:r>
              <a:rPr lang="zh-CN" altLang="en-US"/>
              <a:t>会出现过度收缩或分布偏差。代价是推理时间和 </a:t>
            </a:r>
            <a:r>
              <a:rPr lang="en-US" altLang="zh-CN"/>
              <a:t>token </a:t>
            </a:r>
            <a:r>
              <a:rPr lang="zh-CN" altLang="en-US"/>
              <a:t>成本上升，不过 </a:t>
            </a:r>
            <a:r>
              <a:rPr lang="en-US" altLang="zh-CN"/>
              <a:t>Table 8 </a:t>
            </a:r>
            <a:r>
              <a:rPr lang="zh-CN" altLang="en-US"/>
              <a:t>也说明，它比通用的 </a:t>
            </a:r>
            <a:r>
              <a:rPr lang="en-US" altLang="zh-CN"/>
              <a:t>Reflexion</a:t>
            </a:r>
            <a:r>
              <a:rPr lang="zh-CN" altLang="en-US"/>
              <a:t>、</a:t>
            </a:r>
            <a:r>
              <a:rPr lang="en-US" altLang="zh-CN"/>
              <a:t>SELF-REFINE </a:t>
            </a:r>
            <a:r>
              <a:rPr lang="zh-CN" altLang="en-US"/>
              <a:t>这类开放式反思方法更省。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4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最后总结一下。本文的贡献有三层：第一是 </a:t>
            </a:r>
            <a:r>
              <a:rPr lang="en-US" altLang="zh-CN" dirty="0" err="1"/>
              <a:t>EventMob</a:t>
            </a:r>
            <a:r>
              <a:rPr lang="en-US" altLang="zh-CN" dirty="0"/>
              <a:t> </a:t>
            </a:r>
            <a:r>
              <a:rPr lang="zh-CN" altLang="en-US" dirty="0"/>
              <a:t>数据基准，第二是用 </a:t>
            </a:r>
            <a:r>
              <a:rPr lang="en-US" altLang="zh-CN" dirty="0"/>
              <a:t>gist </a:t>
            </a:r>
            <a:r>
              <a:rPr lang="zh-CN" altLang="en-US" dirty="0"/>
              <a:t>和双轴审计来显式调和决策冲突，第三是实验上证明这种机制在事件场景下更有效。局限也很清楚：数据来自 </a:t>
            </a:r>
            <a:r>
              <a:rPr lang="en-US" altLang="zh-CN" dirty="0"/>
              <a:t>Twitter </a:t>
            </a:r>
            <a:r>
              <a:rPr lang="zh-CN" altLang="en-US" dirty="0"/>
              <a:t>和 </a:t>
            </a:r>
            <a:r>
              <a:rPr lang="en-US" altLang="zh-CN" dirty="0"/>
              <a:t>Foursquare</a:t>
            </a:r>
            <a:r>
              <a:rPr lang="zh-CN" altLang="en-US" dirty="0"/>
              <a:t>，可能有用户偏差；多轮 </a:t>
            </a:r>
            <a:r>
              <a:rPr lang="en-US" altLang="zh-CN" dirty="0"/>
              <a:t>LLM </a:t>
            </a:r>
            <a:r>
              <a:rPr lang="zh-CN" altLang="en-US" dirty="0"/>
              <a:t>推理也带来延迟。组会上可以重点讨论：如果把它用于实时城市应急模拟，怎样把这个审计框架做得更轻量。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09EB-4705-4609-B5AF-0D2BF5A9BE5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201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E536D-EBC6-D100-6D65-0CAF788C1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D34F86-8B05-6987-6E92-A78E77817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69969D-B661-FBD5-52A4-5D2677B27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141281-DF4A-8944-36E9-0ACABBEE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AFB5E-430B-6732-E699-3E18FBF5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580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E10F1-9B25-D306-A824-5A046788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6CF857-4433-5C32-F53B-A3F7D0B3E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A0B955-3B82-FB4B-C46E-3421B92A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569C4-508F-6F69-3B74-CD10AD6A9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AD3A05-5E65-7D0B-192B-52D2F81A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29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096DB-AB58-0A1A-E55F-B3C921452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2EFB1C-157E-4DC3-5267-473F98DBA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2CD9AA-5881-7800-4C95-B200F4D5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BFA46-2054-7349-AF5C-3317D305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13A25-83F4-49E4-7616-17D382D5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88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6EA93-1583-DB6C-A1C6-EB16769AA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BB9A1-5265-CA0E-40FB-0C4A4CC93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770785-995D-5585-3FE8-33A549C64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F2C003-9A28-7CAA-6652-85B5264E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66AFF9-899F-DDEC-0F7C-0F5816907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F44CAA-14F5-3AA3-4A4C-0B8CE9FDB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17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35239-F1CE-0467-2DAE-5B90B7DEC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D5D8A9-5571-C8E7-0298-45777BBC4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B8F537-8FB1-62B3-AA13-F072470E9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6256D4-8011-16EC-7E60-A689222B6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DEB2FE-DF1A-9238-9F5C-0DF8B4E93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75D38F-9576-7CB4-58B0-4FDFFEAE0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CD288E-FDFD-4DE4-B4A3-72F52DE4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FC4202-09D7-C4B3-071B-60D925B5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72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B281C-59F7-E428-7FBE-CBC89752F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3DFA48-F89A-30BB-E3CC-51E5E08A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B279AB-6432-F23F-CAE3-935517EE0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8516B1-F659-6495-902D-29D80212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51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AB40C1-807B-366C-D332-0AC071778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DDCC40-24C6-656C-6C7B-785C416E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1F3F4-1103-A073-559E-08EF02A9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081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9A7C0-C7A1-E43E-7F62-5ACC3A70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6D13D-51B6-1FFF-B6A3-60EE63C4E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368E7B-7BBD-15C7-AEBF-1E6C50956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3DE3FB-ACF6-0C95-39D6-66100446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762896-82BB-CD61-D2B9-4DFAE27E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8592F-3240-7A3B-6CE0-EC946A5D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61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E06C1-EC2F-FC97-D520-25FBAC2E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F4C5D-795F-ACF9-9763-EFCCCE2F0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6BBA8-5BB8-8B72-52D8-E0DE77519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B81CEC-7871-C812-4774-CD4F4168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6779A5-F9E7-0F2E-210D-83601187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0F954E-16AD-870D-44A2-4AFF5E9D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94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10085-4C97-902C-1B31-CF9D8871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2CD72D-218D-3618-FE13-F12B39361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0733F6-425B-6164-FC69-3EEE36707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A4BC1F-ED1D-AE35-7BAF-F79D5634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BD4EEB-ABF3-CE9F-CCD1-A92999EF8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35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7546D3-6F5F-7784-5765-CF18DA460B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E39E63-11AF-5494-7657-3865A76FF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A7ECAA-F322-B353-BCA0-47257403E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83231D-458C-D7A1-DC59-DBFA9695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8F7CF0-4AFC-283C-7A1F-DB27FFA84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7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97C698-C45A-8991-9029-F43D51CED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4578E0-5B44-DEDA-C7B3-44E8751AA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D1603-D024-DB68-DE1C-C0EAD772D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71B79-ADB2-48BD-B2EC-4ADEDC751DA6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7F350-33D4-D90C-7CBC-B2E6BA24C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ED9866-34C2-DB84-3DDC-0F513CCAF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E395E-1FD8-4346-850F-B4F787A80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20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A2CE37-85F5-D095-4C2A-1CC9096198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BBA58E-0C05-3716-7A0C-144EE606A4B2}"/>
              </a:ext>
            </a:extLst>
          </p:cNvPr>
          <p:cNvSpPr/>
          <p:nvPr/>
        </p:nvSpPr>
        <p:spPr>
          <a:xfrm>
            <a:off x="0" y="0"/>
            <a:ext cx="3911600" cy="6858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08CF62-E737-A7D3-94F0-C7394EDB18A4}"/>
              </a:ext>
            </a:extLst>
          </p:cNvPr>
          <p:cNvSpPr txBox="1"/>
          <p:nvPr/>
        </p:nvSpPr>
        <p:spPr>
          <a:xfrm>
            <a:off x="660400" y="736600"/>
            <a:ext cx="2794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1200" b="1">
                <a:solidFill>
                  <a:srgbClr val="DCE7F3"/>
                </a:solidFill>
                <a:latin typeface="Aptos" panose="020B0004020202020204" pitchFamily="34" charset="0"/>
              </a:rPr>
              <a:t>ICLR 2026 Conference Paper</a:t>
            </a:r>
            <a:endParaRPr lang="zh-CN" altLang="en-US" sz="1200" b="1">
              <a:solidFill>
                <a:srgbClr val="DCE7F3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1614F8-DD68-0767-A78F-FDBE08536134}"/>
              </a:ext>
            </a:extLst>
          </p:cNvPr>
          <p:cNvSpPr txBox="1"/>
          <p:nvPr/>
        </p:nvSpPr>
        <p:spPr>
          <a:xfrm>
            <a:off x="660400" y="1473200"/>
            <a:ext cx="2984500" cy="189795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ptos" panose="020B0004020202020204" pitchFamily="34" charset="0"/>
              </a:rPr>
              <a:t>ELLMob: Event-Driven Human Mobility Generation with Self-Aligned LLM Framework</a:t>
            </a:r>
            <a:endParaRPr lang="zh-CN" altLang="en-US" sz="2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C66953-692F-2752-CACA-5F3FA3E40346}"/>
              </a:ext>
            </a:extLst>
          </p:cNvPr>
          <p:cNvSpPr txBox="1"/>
          <p:nvPr/>
        </p:nvSpPr>
        <p:spPr>
          <a:xfrm>
            <a:off x="660400" y="3200400"/>
            <a:ext cx="2921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1500">
                <a:solidFill>
                  <a:srgbClr val="DCE7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事件驱动人类移动性生成：基于自我对齐 </a:t>
            </a:r>
            <a:r>
              <a:rPr lang="en-US" altLang="zh-CN" sz="1500">
                <a:solidFill>
                  <a:srgbClr val="DCE7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500">
                <a:solidFill>
                  <a:srgbClr val="DCE7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框架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59C14C-D749-E111-9AB3-E5BCF4AFDE8E}"/>
              </a:ext>
            </a:extLst>
          </p:cNvPr>
          <p:cNvSpPr txBox="1"/>
          <p:nvPr/>
        </p:nvSpPr>
        <p:spPr>
          <a:xfrm>
            <a:off x="660400" y="4572000"/>
            <a:ext cx="2794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Yusong Wang et al. | ICLR 2026`n</a:t>
            </a:r>
            <a:r>
              <a:rPr lang="zh-CN" altLang="en-US" sz="12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组会文献分享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575FB0-A32C-4C29-7794-20C746925D86}"/>
              </a:ext>
            </a:extLst>
          </p:cNvPr>
          <p:cNvSpPr/>
          <p:nvPr/>
        </p:nvSpPr>
        <p:spPr>
          <a:xfrm>
            <a:off x="4432300" y="901700"/>
            <a:ext cx="69850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5F36859-54B0-5803-47A9-9128BE79FF0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099071"/>
            <a:ext cx="6959600" cy="405025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70BC937-FCEF-DCF4-3C5D-59CCE0BB7C47}"/>
              </a:ext>
            </a:extLst>
          </p:cNvPr>
          <p:cNvSpPr txBox="1"/>
          <p:nvPr/>
        </p:nvSpPr>
        <p:spPr>
          <a:xfrm>
            <a:off x="4470400" y="5664200"/>
            <a:ext cx="6350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主线：大规模社会性事件下，轨迹生成模型缺的是泛化能力，更缺的是对“习惯</a:t>
            </a:r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约束”冲突的显式调和。</a:t>
            </a:r>
          </a:p>
        </p:txBody>
      </p:sp>
    </p:spTree>
    <p:extLst>
      <p:ext uri="{BB962C8B-B14F-4D97-AF65-F5344CB8AC3E}">
        <p14:creationId xmlns:p14="http://schemas.microsoft.com/office/powerpoint/2010/main" val="355727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E50611-ABC0-2B35-6650-3C90B9A17B82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0DB3D0-3141-5403-B17A-8F57B0B803DA}"/>
              </a:ext>
            </a:extLst>
          </p:cNvPr>
          <p:cNvSpPr txBox="1"/>
          <p:nvPr/>
        </p:nvSpPr>
        <p:spPr>
          <a:xfrm>
            <a:off x="200891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2594B3-88A6-EBD8-FCC3-AB2A9D0AC1DF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 2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2118C8-E309-6032-9032-24BCBB1A91BB}"/>
              </a:ext>
            </a:extLst>
          </p:cNvPr>
          <p:cNvSpPr txBox="1"/>
          <p:nvPr/>
        </p:nvSpPr>
        <p:spPr>
          <a:xfrm>
            <a:off x="635000" y="1009527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常规轨迹生成在大规模社会事件下失效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816D60-6087-BB63-187E-3157DB828C32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76072F-FF0D-C60D-8FCF-616400098BC2}"/>
              </a:ext>
            </a:extLst>
          </p:cNvPr>
          <p:cNvSpPr txBox="1"/>
          <p:nvPr/>
        </p:nvSpPr>
        <p:spPr>
          <a:xfrm>
            <a:off x="635000" y="1978612"/>
            <a:ext cx="4318000" cy="251350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现有轨迹生成大多学习稳定时期的日常规律。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大规模社会性事件会改变出行目的、空间范围和活动频率。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关键缺口：模型在非平稳事件场景下泛化能力不足。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55E66C9-A94D-23C9-1E8C-28CC2249C52F}"/>
              </a:ext>
            </a:extLst>
          </p:cNvPr>
          <p:cNvSpPr/>
          <p:nvPr/>
        </p:nvSpPr>
        <p:spPr>
          <a:xfrm>
            <a:off x="5562600" y="1517094"/>
            <a:ext cx="15240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0B8661-7A0B-8FFB-C0E3-1E9D6FCBA88D}"/>
              </a:ext>
            </a:extLst>
          </p:cNvPr>
          <p:cNvSpPr txBox="1"/>
          <p:nvPr/>
        </p:nvSpPr>
        <p:spPr>
          <a:xfrm>
            <a:off x="5613400" y="1542494"/>
            <a:ext cx="14224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Motivation: Fig. 1</a:t>
            </a:r>
            <a:endParaRPr lang="zh-CN" altLang="en-US" sz="900" b="1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32AF3A6-D54E-9A5A-9827-DBA8436D7A6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5" r="4654" b="19349"/>
          <a:stretch>
            <a:fillRect/>
          </a:stretch>
        </p:blipFill>
        <p:spPr>
          <a:xfrm>
            <a:off x="5308600" y="1978612"/>
            <a:ext cx="6883400" cy="3672228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AB765A-FC22-34B0-BEDC-B2FB8A6C75FD}"/>
              </a:ext>
            </a:extLst>
          </p:cNvPr>
          <p:cNvSpPr/>
          <p:nvPr/>
        </p:nvSpPr>
        <p:spPr>
          <a:xfrm>
            <a:off x="762000" y="5428694"/>
            <a:ext cx="3810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DA41E3-1555-8E06-8D8C-02F3EF13D251}"/>
              </a:ext>
            </a:extLst>
          </p:cNvPr>
          <p:cNvSpPr/>
          <p:nvPr/>
        </p:nvSpPr>
        <p:spPr>
          <a:xfrm>
            <a:off x="762000" y="5428694"/>
            <a:ext cx="76200" cy="889000"/>
          </a:xfrm>
          <a:prstGeom prst="rect">
            <a:avLst/>
          </a:prstGeom>
          <a:solidFill>
            <a:srgbClr val="2E6F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8D8609-DDC7-1AB1-1904-9CE5AD0F5AD4}"/>
              </a:ext>
            </a:extLst>
          </p:cNvPr>
          <p:cNvSpPr txBox="1"/>
          <p:nvPr/>
        </p:nvSpPr>
        <p:spPr>
          <a:xfrm>
            <a:off x="990600" y="5533023"/>
            <a:ext cx="34036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1500" b="1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背景总结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5572C9-F1ED-8094-765C-DDAB96FA6948}"/>
              </a:ext>
            </a:extLst>
          </p:cNvPr>
          <p:cNvSpPr txBox="1"/>
          <p:nvPr/>
        </p:nvSpPr>
        <p:spPr>
          <a:xfrm>
            <a:off x="990600" y="5840720"/>
            <a:ext cx="34036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失效并非轨迹预测误差，而是训练分布与事件约束之间的存在冲突。</a:t>
            </a:r>
          </a:p>
        </p:txBody>
      </p:sp>
    </p:spTree>
    <p:extLst>
      <p:ext uri="{BB962C8B-B14F-4D97-AF65-F5344CB8AC3E}">
        <p14:creationId xmlns:p14="http://schemas.microsoft.com/office/powerpoint/2010/main" val="285005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F2F208A-B095-2745-9FF9-27BC7264A4AD}"/>
              </a:ext>
            </a:extLst>
          </p:cNvPr>
          <p:cNvSpPr txBox="1"/>
          <p:nvPr/>
        </p:nvSpPr>
        <p:spPr>
          <a:xfrm>
            <a:off x="635000" y="1282621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真正难点：习惯惯性 </a:t>
            </a:r>
            <a:r>
              <a:rPr lang="en-US" altLang="zh-CN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vs </a:t>
            </a:r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事件约束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7FB979-007C-5E20-3FBD-F1AF93BDBC32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19BBB28-7799-3E53-6F1A-D4C23CEA85BD}"/>
              </a:ext>
            </a:extLst>
          </p:cNvPr>
          <p:cNvSpPr/>
          <p:nvPr/>
        </p:nvSpPr>
        <p:spPr>
          <a:xfrm>
            <a:off x="736600" y="2095421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128E4C-AF41-C3B1-0841-AFD130A2CECF}"/>
              </a:ext>
            </a:extLst>
          </p:cNvPr>
          <p:cNvSpPr/>
          <p:nvPr/>
        </p:nvSpPr>
        <p:spPr>
          <a:xfrm>
            <a:off x="736600" y="2095421"/>
            <a:ext cx="76200" cy="3175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FF87DF-AF34-8F51-C940-E13FA7726700}"/>
              </a:ext>
            </a:extLst>
          </p:cNvPr>
          <p:cNvSpPr txBox="1"/>
          <p:nvPr/>
        </p:nvSpPr>
        <p:spPr>
          <a:xfrm>
            <a:off x="965200" y="2273221"/>
            <a:ext cx="2768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习惯惯性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9F87FB-B536-03F7-8C26-F4D9752006B3}"/>
              </a:ext>
            </a:extLst>
          </p:cNvPr>
          <p:cNvSpPr txBox="1"/>
          <p:nvPr/>
        </p:nvSpPr>
        <p:spPr>
          <a:xfrm>
            <a:off x="965200" y="2696020"/>
            <a:ext cx="2768600" cy="88229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人会保持稳定锚点：家、工作地、常去餐厅、家庭责任、固定交通路径。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0D2B723-2BE4-C985-0C9D-46932B94CF1D}"/>
              </a:ext>
            </a:extLst>
          </p:cNvPr>
          <p:cNvSpPr/>
          <p:nvPr/>
        </p:nvSpPr>
        <p:spPr>
          <a:xfrm>
            <a:off x="4445000" y="2095421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F74001-F6E9-0A70-C549-63DD4B6536E9}"/>
              </a:ext>
            </a:extLst>
          </p:cNvPr>
          <p:cNvSpPr/>
          <p:nvPr/>
        </p:nvSpPr>
        <p:spPr>
          <a:xfrm>
            <a:off x="4445000" y="2095421"/>
            <a:ext cx="76200" cy="3175000"/>
          </a:xfrm>
          <a:prstGeom prst="rect">
            <a:avLst/>
          </a:prstGeom>
          <a:solidFill>
            <a:srgbClr val="B345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A0B4DE-EB7D-8EEB-DA1C-4AC4F5215E62}"/>
              </a:ext>
            </a:extLst>
          </p:cNvPr>
          <p:cNvSpPr txBox="1"/>
          <p:nvPr/>
        </p:nvSpPr>
        <p:spPr>
          <a:xfrm>
            <a:off x="4673600" y="2273221"/>
            <a:ext cx="2768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 dirty="0">
                <a:solidFill>
                  <a:srgbClr val="B345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事件约束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FD32FB-DD9C-BF8F-171F-A42CAB6762EF}"/>
              </a:ext>
            </a:extLst>
          </p:cNvPr>
          <p:cNvSpPr txBox="1"/>
          <p:nvPr/>
        </p:nvSpPr>
        <p:spPr>
          <a:xfrm>
            <a:off x="4673600" y="2628821"/>
            <a:ext cx="2768600" cy="88229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事件会改变可行空间：风险区域、出行限制、交通中断、官方指令。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5234C5F-B509-01A6-58AC-3269B2086AFD}"/>
              </a:ext>
            </a:extLst>
          </p:cNvPr>
          <p:cNvSpPr/>
          <p:nvPr/>
        </p:nvSpPr>
        <p:spPr>
          <a:xfrm>
            <a:off x="8153400" y="2095421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6FB84D-737F-9993-53F5-EE0A1D04846A}"/>
              </a:ext>
            </a:extLst>
          </p:cNvPr>
          <p:cNvSpPr/>
          <p:nvPr/>
        </p:nvSpPr>
        <p:spPr>
          <a:xfrm>
            <a:off x="8153400" y="2095421"/>
            <a:ext cx="76200" cy="3175000"/>
          </a:xfrm>
          <a:prstGeom prst="rect">
            <a:avLst/>
          </a:prstGeom>
          <a:solidFill>
            <a:srgbClr val="2E6F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D41B4B-2F73-891A-42AC-0736B5C249C3}"/>
              </a:ext>
            </a:extLst>
          </p:cNvPr>
          <p:cNvSpPr txBox="1"/>
          <p:nvPr/>
        </p:nvSpPr>
        <p:spPr>
          <a:xfrm>
            <a:off x="8382000" y="2273221"/>
            <a:ext cx="2768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模型困境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44B18B-DF5E-01D1-E01E-05A628467260}"/>
              </a:ext>
            </a:extLst>
          </p:cNvPr>
          <p:cNvSpPr txBox="1"/>
          <p:nvPr/>
        </p:nvSpPr>
        <p:spPr>
          <a:xfrm>
            <a:off x="8382000" y="2628821"/>
            <a:ext cx="2768600" cy="88229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过度依赖习惯会忽略风险；过度服从事件又会抹掉个体差异。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DA28514-4203-4924-75E4-D8491CCAFD8B}"/>
              </a:ext>
            </a:extLst>
          </p:cNvPr>
          <p:cNvSpPr txBox="1"/>
          <p:nvPr/>
        </p:nvSpPr>
        <p:spPr>
          <a:xfrm>
            <a:off x="1117600" y="5803821"/>
            <a:ext cx="9652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b="1" dirty="0" err="1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ELLMob</a:t>
            </a:r>
            <a:r>
              <a:rPr lang="en-US" altLang="zh-CN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的切入视角：事件驱动轨迹生成，本质为多约束下的决策冲突调和。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C109A2-9EB7-03DF-A39C-7D687CCBBD74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5B9ACF-BB94-C2DC-7BFE-0274315198AE}"/>
              </a:ext>
            </a:extLst>
          </p:cNvPr>
          <p:cNvSpPr txBox="1"/>
          <p:nvPr/>
        </p:nvSpPr>
        <p:spPr>
          <a:xfrm>
            <a:off x="200891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05A718-FE1B-588C-72BD-047C73453550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 3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426A233-8B2D-2F30-3DA9-D1B7830A5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3814767"/>
            <a:ext cx="1219200" cy="12192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D4E8BF34-E2D6-53F2-39C1-FCA024E1B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814767"/>
            <a:ext cx="1219200" cy="12192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154EF32F-EE83-DBF8-2447-C54DA25E2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400" y="3814767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1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A6AB3DE-3BE6-7A6D-725E-34841C1B380E}"/>
              </a:ext>
            </a:extLst>
          </p:cNvPr>
          <p:cNvSpPr txBox="1"/>
          <p:nvPr/>
        </p:nvSpPr>
        <p:spPr>
          <a:xfrm>
            <a:off x="635000" y="1465199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300" b="1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EventMob</a:t>
            </a:r>
            <a:r>
              <a:rPr lang="en-US" altLang="zh-CN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面向事件泛化的评估基准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20A4A3-D1C8-8834-1376-DDA022544AF5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7D9D05-C220-4AA3-0FB8-30CA92E1791F}"/>
              </a:ext>
            </a:extLst>
          </p:cNvPr>
          <p:cNvSpPr txBox="1"/>
          <p:nvPr/>
        </p:nvSpPr>
        <p:spPr>
          <a:xfrm>
            <a:off x="762000" y="2308007"/>
            <a:ext cx="4191000" cy="343683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Typhoon Hagibis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COVID-19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Tokyo 2021 Olympics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normal period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，用于对照常规移动性。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1100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名用户，连续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pre-event / during-event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轨迹。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补上了事件标注移动性数据的评估空白。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3CBC8A4-F135-9EB0-08E7-AAF7AA916188}"/>
              </a:ext>
            </a:extLst>
          </p:cNvPr>
          <p:cNvSpPr/>
          <p:nvPr/>
        </p:nvSpPr>
        <p:spPr>
          <a:xfrm>
            <a:off x="5918200" y="1540238"/>
            <a:ext cx="13970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C523B4-A069-9B3E-B42E-5A643ACEC6CC}"/>
              </a:ext>
            </a:extLst>
          </p:cNvPr>
          <p:cNvSpPr txBox="1"/>
          <p:nvPr/>
        </p:nvSpPr>
        <p:spPr>
          <a:xfrm>
            <a:off x="5969000" y="1565638"/>
            <a:ext cx="12954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Dataset Tables</a:t>
            </a:r>
            <a:endParaRPr lang="zh-CN" altLang="en-US" sz="900" b="1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4000C1-E504-391B-E6D0-1E681A7A8846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A8F295-199E-2C01-657C-9E11770516D1}"/>
              </a:ext>
            </a:extLst>
          </p:cNvPr>
          <p:cNvSpPr txBox="1"/>
          <p:nvPr/>
        </p:nvSpPr>
        <p:spPr>
          <a:xfrm>
            <a:off x="200891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A8BCF7-40A1-F4ED-3B41-D8849CA273F9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 4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738AD9D-A7BA-CE3D-51F2-3C502C3BF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244" y="1819638"/>
            <a:ext cx="6140993" cy="152653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2159B0D-0242-B9AD-9FD2-20337A270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214" y="3511828"/>
            <a:ext cx="5895051" cy="266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75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18AD6E0-2879-20BC-0125-66E7AC625EB7}"/>
              </a:ext>
            </a:extLst>
          </p:cNvPr>
          <p:cNvSpPr txBox="1"/>
          <p:nvPr/>
        </p:nvSpPr>
        <p:spPr>
          <a:xfrm>
            <a:off x="635000" y="1428210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主要思想：用 </a:t>
            </a:r>
            <a:r>
              <a:rPr lang="en-US" altLang="zh-CN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Gist </a:t>
            </a:r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表达移动决策依据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E64E8B-1D3C-339F-CD76-8AE9D1F874D2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A1AC35-264B-0C72-37A8-F9F656A629BC}"/>
              </a:ext>
            </a:extLst>
          </p:cNvPr>
          <p:cNvSpPr txBox="1"/>
          <p:nvPr/>
        </p:nvSpPr>
        <p:spPr>
          <a:xfrm>
            <a:off x="736600" y="2392621"/>
            <a:ext cx="3810000" cy="251350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FTT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认为人在不确定情境下依赖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bottom-line meaning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事件移动性中，决策依据可以拆成三类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gist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Gist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把复杂输入压缩成可审核、可对齐的语义变量。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39BFC4A-839A-0EBB-D720-32249404BD08}"/>
              </a:ext>
            </a:extLst>
          </p:cNvPr>
          <p:cNvSpPr/>
          <p:nvPr/>
        </p:nvSpPr>
        <p:spPr>
          <a:xfrm>
            <a:off x="5130800" y="2138621"/>
            <a:ext cx="19050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43C056-ED0B-9A2E-8C99-EDDC3D5A5885}"/>
              </a:ext>
            </a:extLst>
          </p:cNvPr>
          <p:cNvSpPr txBox="1"/>
          <p:nvPr/>
        </p:nvSpPr>
        <p:spPr>
          <a:xfrm>
            <a:off x="5181600" y="2164021"/>
            <a:ext cx="18034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Table 4: Gist Attributes</a:t>
            </a:r>
            <a:endParaRPr lang="zh-CN" altLang="en-US" sz="900" b="1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33550B-D4DB-6581-3BCC-2DF779A4CEDF}"/>
              </a:ext>
            </a:extLst>
          </p:cNvPr>
          <p:cNvSpPr/>
          <p:nvPr/>
        </p:nvSpPr>
        <p:spPr>
          <a:xfrm>
            <a:off x="5041899" y="2481521"/>
            <a:ext cx="6668655" cy="3626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905968-B352-16F8-F390-26FC056042A2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718AEF-38E3-B55F-EE68-5FA64473CEB3}"/>
              </a:ext>
            </a:extLst>
          </p:cNvPr>
          <p:cNvSpPr txBox="1"/>
          <p:nvPr/>
        </p:nvSpPr>
        <p:spPr>
          <a:xfrm>
            <a:off x="200891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563190-6E24-3ECB-68D1-A3375539E337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 5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5D83DAF-6932-C932-03F0-0F3A5EEDC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701" y="2733241"/>
            <a:ext cx="6321699" cy="309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2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60E1F2E-C224-C38E-B79A-C3358785131C}"/>
              </a:ext>
            </a:extLst>
          </p:cNvPr>
          <p:cNvSpPr txBox="1"/>
          <p:nvPr/>
        </p:nvSpPr>
        <p:spPr>
          <a:xfrm>
            <a:off x="635000" y="1027160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300" b="1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ELLMob</a:t>
            </a:r>
            <a:r>
              <a:rPr lang="en-US" altLang="zh-CN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总体框架：生成、抽取、审核、再生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28C0B9-68F6-6FBF-342A-091A6C0580B5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19C803-F893-D168-86DD-1531C19D5CD7}"/>
              </a:ext>
            </a:extLst>
          </p:cNvPr>
          <p:cNvSpPr txBox="1"/>
          <p:nvPr/>
        </p:nvSpPr>
        <p:spPr>
          <a:xfrm>
            <a:off x="762000" y="1584812"/>
            <a:ext cx="10414000" cy="6976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先生成候选轨迹，再抽取 </a:t>
            </a:r>
            <a:r>
              <a:rPr lang="en-US" altLang="zh-CN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Action / Event / Pattern Gist</a:t>
            </a:r>
            <a:r>
              <a:rPr lang="zh-CN" altLang="en-US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r>
              <a:rPr lang="en-US" altLang="zh-CN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lang="en-US" altLang="zh-CN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Reflection </a:t>
            </a:r>
            <a:r>
              <a:rPr lang="zh-CN" altLang="en-US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模块做 </a:t>
            </a:r>
            <a:r>
              <a:rPr lang="en-US" altLang="zh-CN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internal </a:t>
            </a:r>
            <a:r>
              <a:rPr lang="zh-CN" altLang="en-US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external alignment</a:t>
            </a:r>
            <a:r>
              <a:rPr lang="zh-CN" altLang="en-US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r>
              <a:rPr lang="en-US" altLang="zh-CN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若审核失败，将失败原因反馈给生成器重新规划。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E5F2951-6FF0-ACC5-FF6D-E8A58DDD82D5}"/>
              </a:ext>
            </a:extLst>
          </p:cNvPr>
          <p:cNvSpPr/>
          <p:nvPr/>
        </p:nvSpPr>
        <p:spPr>
          <a:xfrm>
            <a:off x="812800" y="2550012"/>
            <a:ext cx="20955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34E762-8493-BB68-7313-0CB8D5DEC43C}"/>
              </a:ext>
            </a:extLst>
          </p:cNvPr>
          <p:cNvSpPr txBox="1"/>
          <p:nvPr/>
        </p:nvSpPr>
        <p:spPr>
          <a:xfrm>
            <a:off x="863600" y="2575412"/>
            <a:ext cx="19939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Figure 3: Overall Framework</a:t>
            </a:r>
            <a:endParaRPr lang="zh-CN" altLang="en-US" sz="900" b="1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EEDF2B-5810-8254-CB28-A1D22217FBA6}"/>
              </a:ext>
            </a:extLst>
          </p:cNvPr>
          <p:cNvSpPr/>
          <p:nvPr/>
        </p:nvSpPr>
        <p:spPr>
          <a:xfrm>
            <a:off x="723900" y="2867512"/>
            <a:ext cx="10756900" cy="353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F3CE49-136C-8176-155E-F8C3AAE0B75B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D86230-A182-56F4-4B90-5A5D951E2374}"/>
              </a:ext>
            </a:extLst>
          </p:cNvPr>
          <p:cNvSpPr txBox="1"/>
          <p:nvPr/>
        </p:nvSpPr>
        <p:spPr>
          <a:xfrm>
            <a:off x="200891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0FF410-CFF6-2FC6-BC4A-7D451396188B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 6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A5BB533-3997-CF89-3190-807DB473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609" y="2867512"/>
            <a:ext cx="7894782" cy="338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7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D904D99-CBB5-C650-35B4-06C5E2255DAE}"/>
              </a:ext>
            </a:extLst>
          </p:cNvPr>
          <p:cNvSpPr txBox="1"/>
          <p:nvPr/>
        </p:nvSpPr>
        <p:spPr>
          <a:xfrm>
            <a:off x="635000" y="1371600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Event Schema: </a:t>
            </a:r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把事件文本变成可推理约束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A96257-9F75-0F11-DDFC-2EA78DA640D8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DE8E8D4-519D-CFDB-A197-E6FA18AEB248}"/>
              </a:ext>
            </a:extLst>
          </p:cNvPr>
          <p:cNvSpPr/>
          <p:nvPr/>
        </p:nvSpPr>
        <p:spPr>
          <a:xfrm>
            <a:off x="838200" y="2286000"/>
            <a:ext cx="2349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3FEF3C-9F60-1F26-1C28-CAFAF04B81E8}"/>
              </a:ext>
            </a:extLst>
          </p:cNvPr>
          <p:cNvSpPr/>
          <p:nvPr/>
        </p:nvSpPr>
        <p:spPr>
          <a:xfrm>
            <a:off x="838200" y="2286000"/>
            <a:ext cx="76200" cy="2286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FC02CA-00D5-93F4-1518-0A5A9FC19A92}"/>
              </a:ext>
            </a:extLst>
          </p:cNvPr>
          <p:cNvSpPr txBox="1"/>
          <p:nvPr/>
        </p:nvSpPr>
        <p:spPr>
          <a:xfrm>
            <a:off x="1066800" y="2463800"/>
            <a:ext cx="19431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1500" b="1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Event profile</a:t>
            </a:r>
            <a:endParaRPr lang="zh-CN" altLang="en-US" sz="1500" b="1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76A6EE-B1E0-6837-7D66-591817623E67}"/>
              </a:ext>
            </a:extLst>
          </p:cNvPr>
          <p:cNvSpPr txBox="1"/>
          <p:nvPr/>
        </p:nvSpPr>
        <p:spPr>
          <a:xfrm>
            <a:off x="1066800" y="2819400"/>
            <a:ext cx="19431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事件类型、名称、时间、影响区域。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B26C19F-674A-170F-1DBD-59D1210726C5}"/>
              </a:ext>
            </a:extLst>
          </p:cNvPr>
          <p:cNvSpPr/>
          <p:nvPr/>
        </p:nvSpPr>
        <p:spPr>
          <a:xfrm>
            <a:off x="3581400" y="2286000"/>
            <a:ext cx="2349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A1FDE-F997-1237-4FBD-AE65E1AF678A}"/>
              </a:ext>
            </a:extLst>
          </p:cNvPr>
          <p:cNvSpPr/>
          <p:nvPr/>
        </p:nvSpPr>
        <p:spPr>
          <a:xfrm>
            <a:off x="3581400" y="2286000"/>
            <a:ext cx="76200" cy="2286000"/>
          </a:xfrm>
          <a:prstGeom prst="rect">
            <a:avLst/>
          </a:prstGeom>
          <a:solidFill>
            <a:srgbClr val="2E6F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7390A7-BA1C-BAED-7D32-C4D0BE20E31F}"/>
              </a:ext>
            </a:extLst>
          </p:cNvPr>
          <p:cNvSpPr txBox="1"/>
          <p:nvPr/>
        </p:nvSpPr>
        <p:spPr>
          <a:xfrm>
            <a:off x="3810000" y="2463800"/>
            <a:ext cx="19431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1500" b="1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Intensity &amp; scale</a:t>
            </a:r>
            <a:endParaRPr lang="zh-CN" altLang="en-US" sz="1500" b="1">
              <a:solidFill>
                <a:srgbClr val="2E6F9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49F8EB-5FDA-1567-CC2A-9EBF9C572951}"/>
              </a:ext>
            </a:extLst>
          </p:cNvPr>
          <p:cNvSpPr txBox="1"/>
          <p:nvPr/>
        </p:nvSpPr>
        <p:spPr>
          <a:xfrm>
            <a:off x="3810000" y="2819400"/>
            <a:ext cx="19431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风速、降雨、风险等级等强度信号。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5CFC5D8-1D5C-DB29-79DA-B4141D631B5A}"/>
              </a:ext>
            </a:extLst>
          </p:cNvPr>
          <p:cNvSpPr/>
          <p:nvPr/>
        </p:nvSpPr>
        <p:spPr>
          <a:xfrm>
            <a:off x="6324600" y="2286000"/>
            <a:ext cx="2349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8345C7-5D43-F77D-A3DB-FF9931C80836}"/>
              </a:ext>
            </a:extLst>
          </p:cNvPr>
          <p:cNvSpPr/>
          <p:nvPr/>
        </p:nvSpPr>
        <p:spPr>
          <a:xfrm>
            <a:off x="6324600" y="2286000"/>
            <a:ext cx="76200" cy="2286000"/>
          </a:xfrm>
          <a:prstGeom prst="rect">
            <a:avLst/>
          </a:prstGeom>
          <a:solidFill>
            <a:srgbClr val="C28B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FB8650-60F7-22E5-F53A-52311CDBE2B3}"/>
              </a:ext>
            </a:extLst>
          </p:cNvPr>
          <p:cNvSpPr txBox="1"/>
          <p:nvPr/>
        </p:nvSpPr>
        <p:spPr>
          <a:xfrm>
            <a:off x="6553200" y="2463800"/>
            <a:ext cx="19431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1500" b="1">
                <a:solidFill>
                  <a:srgbClr val="C28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Infrastructure</a:t>
            </a:r>
            <a:endParaRPr lang="zh-CN" altLang="en-US" sz="1500" b="1">
              <a:solidFill>
                <a:srgbClr val="C28B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72F234-3F0C-9687-90B2-063A1865D863}"/>
              </a:ext>
            </a:extLst>
          </p:cNvPr>
          <p:cNvSpPr txBox="1"/>
          <p:nvPr/>
        </p:nvSpPr>
        <p:spPr>
          <a:xfrm>
            <a:off x="6553200" y="2819400"/>
            <a:ext cx="19431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交通、设施、公共服务是否受影响。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0163C14-6E19-4CAA-ACA7-637F6B831421}"/>
              </a:ext>
            </a:extLst>
          </p:cNvPr>
          <p:cNvSpPr/>
          <p:nvPr/>
        </p:nvSpPr>
        <p:spPr>
          <a:xfrm>
            <a:off x="9067800" y="2286000"/>
            <a:ext cx="2349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C6024C-E027-ED82-FB54-8BF2D624BACA}"/>
              </a:ext>
            </a:extLst>
          </p:cNvPr>
          <p:cNvSpPr/>
          <p:nvPr/>
        </p:nvSpPr>
        <p:spPr>
          <a:xfrm>
            <a:off x="9067800" y="2286000"/>
            <a:ext cx="76200" cy="2286000"/>
          </a:xfrm>
          <a:prstGeom prst="rect">
            <a:avLst/>
          </a:prstGeom>
          <a:solidFill>
            <a:srgbClr val="B345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2E939A-4478-5665-CCB0-A244F59946F2}"/>
              </a:ext>
            </a:extLst>
          </p:cNvPr>
          <p:cNvSpPr txBox="1"/>
          <p:nvPr/>
        </p:nvSpPr>
        <p:spPr>
          <a:xfrm>
            <a:off x="9296400" y="2463800"/>
            <a:ext cx="19431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1500" b="1">
                <a:solidFill>
                  <a:srgbClr val="B345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Official directives</a:t>
            </a:r>
            <a:endParaRPr lang="zh-CN" altLang="en-US" sz="1500" b="1">
              <a:solidFill>
                <a:srgbClr val="B3454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CB84A7-5086-026F-A1A2-F4331EEC02C0}"/>
              </a:ext>
            </a:extLst>
          </p:cNvPr>
          <p:cNvSpPr txBox="1"/>
          <p:nvPr/>
        </p:nvSpPr>
        <p:spPr>
          <a:xfrm>
            <a:off x="9296400" y="2819400"/>
            <a:ext cx="19431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政府指令、限制区域、建议行为。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EDF1C37-D05B-42B9-EF89-D7770A0B3249}"/>
              </a:ext>
            </a:extLst>
          </p:cNvPr>
          <p:cNvSpPr txBox="1"/>
          <p:nvPr/>
        </p:nvSpPr>
        <p:spPr>
          <a:xfrm>
            <a:off x="1244600" y="5486400"/>
            <a:ext cx="9652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作用：结构化事件描述，让 </a:t>
            </a:r>
            <a:r>
              <a:rPr lang="en-US" altLang="zh-CN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拿到可以约束轨迹生成的结构化事件上下文。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3DF1ED-EEB7-F56D-E7D3-9DB9BFDA35F7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0225097-2556-A8FF-E7BA-7F7E6DC32539}"/>
              </a:ext>
            </a:extLst>
          </p:cNvPr>
          <p:cNvSpPr txBox="1"/>
          <p:nvPr/>
        </p:nvSpPr>
        <p:spPr>
          <a:xfrm>
            <a:off x="200891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研究方法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D1A40CC-5756-E601-5563-BDBAA2F61B35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 7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1C6869D-3D53-4CFF-1DAF-416D8289E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658" y="3437187"/>
            <a:ext cx="1061342" cy="106134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28F5BE3-5426-29C0-0C08-3C962D67C1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559" y="3429000"/>
            <a:ext cx="907473" cy="907473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6A10D7C5-9511-17F2-EEBB-21F17E06D6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037" y="3311236"/>
            <a:ext cx="1266825" cy="5715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5693E5BB-2ADD-7881-F4B5-64D729320D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295" y="3862034"/>
            <a:ext cx="1266825" cy="5715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810E1206-EECC-0C7A-1830-BD7CAD9A43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1484" y="3311236"/>
            <a:ext cx="1078331" cy="107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5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C513D13-9832-D764-E42E-4A7653664F92}"/>
              </a:ext>
            </a:extLst>
          </p:cNvPr>
          <p:cNvSpPr txBox="1"/>
          <p:nvPr/>
        </p:nvSpPr>
        <p:spPr>
          <a:xfrm>
            <a:off x="635000" y="1145037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Three </a:t>
            </a:r>
            <a:r>
              <a:rPr lang="en-US" altLang="zh-CN" sz="2300" b="1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Gists</a:t>
            </a:r>
            <a:r>
              <a:rPr lang="en-US" altLang="zh-CN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把冲突放到同一语义空间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B5F0D8-F7CF-1CE6-972E-906C22F04EA7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8DCC613-CBF8-FCCA-DF35-4110005DDA26}"/>
              </a:ext>
            </a:extLst>
          </p:cNvPr>
          <p:cNvSpPr/>
          <p:nvPr/>
        </p:nvSpPr>
        <p:spPr>
          <a:xfrm>
            <a:off x="736600" y="1838812"/>
            <a:ext cx="3238500" cy="185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B74C3D-9BBD-B4CD-714B-949FF48C420A}"/>
              </a:ext>
            </a:extLst>
          </p:cNvPr>
          <p:cNvSpPr/>
          <p:nvPr/>
        </p:nvSpPr>
        <p:spPr>
          <a:xfrm>
            <a:off x="736600" y="1838812"/>
            <a:ext cx="76200" cy="18542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BFC93B-92D9-E441-1515-5A411A454C6D}"/>
              </a:ext>
            </a:extLst>
          </p:cNvPr>
          <p:cNvSpPr txBox="1"/>
          <p:nvPr/>
        </p:nvSpPr>
        <p:spPr>
          <a:xfrm>
            <a:off x="965200" y="2016612"/>
            <a:ext cx="2832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Pattern Gist</a:t>
            </a:r>
            <a:endParaRPr lang="zh-CN" altLang="en-US" sz="2000" b="1" dirty="0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8C9F67-375F-C75E-7D2A-88CCFD07C7D2}"/>
              </a:ext>
            </a:extLst>
          </p:cNvPr>
          <p:cNvSpPr txBox="1"/>
          <p:nvPr/>
        </p:nvSpPr>
        <p:spPr>
          <a:xfrm>
            <a:off x="965200" y="2478061"/>
            <a:ext cx="2832100" cy="88229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用户日常移动的主要范式：稳定锚点、强习惯、脆弱依赖。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8F99CBD-9734-2365-DE1C-D55B26BDA3B4}"/>
              </a:ext>
            </a:extLst>
          </p:cNvPr>
          <p:cNvSpPr/>
          <p:nvPr/>
        </p:nvSpPr>
        <p:spPr>
          <a:xfrm>
            <a:off x="4470400" y="1838812"/>
            <a:ext cx="3238500" cy="185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6CA291-6D08-8B59-9228-69FBC60EB50A}"/>
              </a:ext>
            </a:extLst>
          </p:cNvPr>
          <p:cNvSpPr/>
          <p:nvPr/>
        </p:nvSpPr>
        <p:spPr>
          <a:xfrm>
            <a:off x="4470400" y="1838812"/>
            <a:ext cx="76200" cy="1854200"/>
          </a:xfrm>
          <a:prstGeom prst="rect">
            <a:avLst/>
          </a:prstGeom>
          <a:solidFill>
            <a:srgbClr val="B345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3881B5-4BEB-8F52-2255-D0C032B414C2}"/>
              </a:ext>
            </a:extLst>
          </p:cNvPr>
          <p:cNvSpPr txBox="1"/>
          <p:nvPr/>
        </p:nvSpPr>
        <p:spPr>
          <a:xfrm>
            <a:off x="4699000" y="2016612"/>
            <a:ext cx="2832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b="1" dirty="0">
                <a:solidFill>
                  <a:srgbClr val="B345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Event Gist</a:t>
            </a:r>
            <a:endParaRPr lang="zh-CN" altLang="en-US" sz="2000" b="1" dirty="0">
              <a:solidFill>
                <a:srgbClr val="B3454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3BDAC4-0072-7803-04DF-FF073C6F4EA5}"/>
              </a:ext>
            </a:extLst>
          </p:cNvPr>
          <p:cNvSpPr txBox="1"/>
          <p:nvPr/>
        </p:nvSpPr>
        <p:spPr>
          <a:xfrm>
            <a:off x="4699000" y="2478061"/>
            <a:ext cx="28321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事件带来的外部约束：风险、限制、公共服务中断。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CDDA214-0E05-073E-110C-0D81E6E6DBB9}"/>
              </a:ext>
            </a:extLst>
          </p:cNvPr>
          <p:cNvSpPr/>
          <p:nvPr/>
        </p:nvSpPr>
        <p:spPr>
          <a:xfrm>
            <a:off x="8204200" y="1838812"/>
            <a:ext cx="3238500" cy="185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7F7DAE-4759-5705-2907-025B52670FF9}"/>
              </a:ext>
            </a:extLst>
          </p:cNvPr>
          <p:cNvSpPr/>
          <p:nvPr/>
        </p:nvSpPr>
        <p:spPr>
          <a:xfrm>
            <a:off x="8204200" y="1838812"/>
            <a:ext cx="76200" cy="1854200"/>
          </a:xfrm>
          <a:prstGeom prst="rect">
            <a:avLst/>
          </a:prstGeom>
          <a:solidFill>
            <a:srgbClr val="2E6F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512E2A-6E72-C1F3-0CC6-7A0A5609D420}"/>
              </a:ext>
            </a:extLst>
          </p:cNvPr>
          <p:cNvSpPr txBox="1"/>
          <p:nvPr/>
        </p:nvSpPr>
        <p:spPr>
          <a:xfrm>
            <a:off x="8432800" y="2016612"/>
            <a:ext cx="2832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b="1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Action Gist</a:t>
            </a:r>
            <a:endParaRPr lang="zh-CN" altLang="en-US" sz="2000" b="1" dirty="0">
              <a:solidFill>
                <a:srgbClr val="2E6F9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358093-3CE5-C9C4-4413-248A572CEAC2}"/>
              </a:ext>
            </a:extLst>
          </p:cNvPr>
          <p:cNvSpPr txBox="1"/>
          <p:nvPr/>
        </p:nvSpPr>
        <p:spPr>
          <a:xfrm>
            <a:off x="8432800" y="2478061"/>
            <a:ext cx="28321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候选轨迹背后的行动意图：为什么这样走，是否合规。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960CC1F-1AC4-79B7-59C2-B1B4BF1E071D}"/>
              </a:ext>
            </a:extLst>
          </p:cNvPr>
          <p:cNvSpPr/>
          <p:nvPr/>
        </p:nvSpPr>
        <p:spPr>
          <a:xfrm>
            <a:off x="1066800" y="3956148"/>
            <a:ext cx="9144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A41936-21BF-7B95-E307-7DEFE0146CDD}"/>
              </a:ext>
            </a:extLst>
          </p:cNvPr>
          <p:cNvSpPr txBox="1"/>
          <p:nvPr/>
        </p:nvSpPr>
        <p:spPr>
          <a:xfrm>
            <a:off x="1117600" y="3981548"/>
            <a:ext cx="8128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Table 4</a:t>
            </a:r>
            <a:endParaRPr lang="zh-CN" altLang="en-US" sz="900" b="1" dirty="0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8ABF1C-CB8D-7046-2B96-C2E16A9735B1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AF1FB11-BBC9-15CD-8FB6-ADA9AED677AC}"/>
              </a:ext>
            </a:extLst>
          </p:cNvPr>
          <p:cNvSpPr txBox="1"/>
          <p:nvPr/>
        </p:nvSpPr>
        <p:spPr>
          <a:xfrm>
            <a:off x="200891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研究方法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04A96D-BA95-20E7-86F0-C17D98639ED1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 8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9CD01E7-4393-C418-92CF-065ED9A6C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658" y="3870812"/>
            <a:ext cx="5568359" cy="272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72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FC595C8-898D-363F-CC0F-411575A457B1}"/>
              </a:ext>
            </a:extLst>
          </p:cNvPr>
          <p:cNvSpPr txBox="1"/>
          <p:nvPr/>
        </p:nvSpPr>
        <p:spPr>
          <a:xfrm>
            <a:off x="635000" y="1311159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Self-Aligned Audit: </a:t>
            </a:r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两层审核如何纠偏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52153C-0F3A-918A-D4CB-654D0B7BC243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11A1270-AEB5-6282-CF63-BA75C3019353}"/>
              </a:ext>
            </a:extLst>
          </p:cNvPr>
          <p:cNvSpPr/>
          <p:nvPr/>
        </p:nvSpPr>
        <p:spPr>
          <a:xfrm>
            <a:off x="889000" y="2361046"/>
            <a:ext cx="457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0FE5C9-6196-A4B2-2859-98E85A00CEA4}"/>
              </a:ext>
            </a:extLst>
          </p:cNvPr>
          <p:cNvSpPr/>
          <p:nvPr/>
        </p:nvSpPr>
        <p:spPr>
          <a:xfrm>
            <a:off x="889000" y="2361046"/>
            <a:ext cx="76200" cy="19050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042131-8992-3655-1CDB-16459C6F019C}"/>
              </a:ext>
            </a:extLst>
          </p:cNvPr>
          <p:cNvSpPr txBox="1"/>
          <p:nvPr/>
        </p:nvSpPr>
        <p:spPr>
          <a:xfrm>
            <a:off x="1117600" y="2538846"/>
            <a:ext cx="4165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Internal alignment</a:t>
            </a:r>
            <a:endParaRPr lang="zh-CN" altLang="en-US" sz="2000" b="1" dirty="0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17615B-36BA-FB12-59C4-EAB4E40889AF}"/>
              </a:ext>
            </a:extLst>
          </p:cNvPr>
          <p:cNvSpPr txBox="1"/>
          <p:nvPr/>
        </p:nvSpPr>
        <p:spPr>
          <a:xfrm>
            <a:off x="1117600" y="2894446"/>
            <a:ext cx="41656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候选行动是否仍然像这个人的行为：是否保留必要锚点，是否避免无意义地抹掉个体特征。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CCE643A-45C3-98AA-1100-CDFE9E05A329}"/>
              </a:ext>
            </a:extLst>
          </p:cNvPr>
          <p:cNvSpPr/>
          <p:nvPr/>
        </p:nvSpPr>
        <p:spPr>
          <a:xfrm>
            <a:off x="6731000" y="2361046"/>
            <a:ext cx="457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3DDE38-9F90-0185-B229-0504F1BA08FA}"/>
              </a:ext>
            </a:extLst>
          </p:cNvPr>
          <p:cNvSpPr/>
          <p:nvPr/>
        </p:nvSpPr>
        <p:spPr>
          <a:xfrm>
            <a:off x="6731000" y="2361046"/>
            <a:ext cx="76200" cy="1905000"/>
          </a:xfrm>
          <a:prstGeom prst="rect">
            <a:avLst/>
          </a:prstGeom>
          <a:solidFill>
            <a:srgbClr val="B345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2272E7A-EF74-C500-DE76-E21B2914C880}"/>
              </a:ext>
            </a:extLst>
          </p:cNvPr>
          <p:cNvSpPr txBox="1"/>
          <p:nvPr/>
        </p:nvSpPr>
        <p:spPr>
          <a:xfrm>
            <a:off x="6959600" y="2538846"/>
            <a:ext cx="4165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b="1" dirty="0">
                <a:solidFill>
                  <a:srgbClr val="B345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External alignment</a:t>
            </a:r>
            <a:endParaRPr lang="zh-CN" altLang="en-US" sz="2000" b="1" dirty="0">
              <a:solidFill>
                <a:srgbClr val="B3454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D09232-BEFA-DA4A-7437-838AE85F8A71}"/>
              </a:ext>
            </a:extLst>
          </p:cNvPr>
          <p:cNvSpPr txBox="1"/>
          <p:nvPr/>
        </p:nvSpPr>
        <p:spPr>
          <a:xfrm>
            <a:off x="6959600" y="2894446"/>
            <a:ext cx="41656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候选行动是否响应事件：是否避开风险，是否遵守限制，是否考虑公共服务中断。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F766217-34E8-FFC0-87A1-CAB06CF935D1}"/>
              </a:ext>
            </a:extLst>
          </p:cNvPr>
          <p:cNvSpPr/>
          <p:nvPr/>
        </p:nvSpPr>
        <p:spPr>
          <a:xfrm>
            <a:off x="2463800" y="5053446"/>
            <a:ext cx="7573818" cy="6858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60BECF-E7E8-34D0-6064-059155D130C8}"/>
              </a:ext>
            </a:extLst>
          </p:cNvPr>
          <p:cNvSpPr txBox="1"/>
          <p:nvPr/>
        </p:nvSpPr>
        <p:spPr>
          <a:xfrm>
            <a:off x="2540000" y="5218546"/>
            <a:ext cx="7387936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若任一层判断失败：输出具体失败原因 → 再生轨迹 → 最多迭代 </a:t>
            </a:r>
            <a:r>
              <a:rPr lang="en-US" altLang="zh-CN" b="1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K=3</a:t>
            </a:r>
            <a:endParaRPr lang="zh-CN" altLang="en-US" b="1" dirty="0">
              <a:solidFill>
                <a:srgbClr val="2E6F9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C4F956-B9EC-F3DE-5793-7BEC09179858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073C297-9DEC-5242-100E-77086AEC1D23}"/>
              </a:ext>
            </a:extLst>
          </p:cNvPr>
          <p:cNvSpPr txBox="1"/>
          <p:nvPr/>
        </p:nvSpPr>
        <p:spPr>
          <a:xfrm>
            <a:off x="200891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研究方法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4700447-4E18-FE3C-D39A-0E4EDB86D590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·9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36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9482CD8-A5CF-9ECF-C4FF-CF797772038F}"/>
              </a:ext>
            </a:extLst>
          </p:cNvPr>
          <p:cNvSpPr txBox="1"/>
          <p:nvPr/>
        </p:nvSpPr>
        <p:spPr>
          <a:xfrm>
            <a:off x="635000" y="1397000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实验设置：事件、基线与评价指标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BFF443-9FB2-9BD9-21BB-E2F15B5DC309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5635E8-B253-249C-67DE-E0951871D866}"/>
              </a:ext>
            </a:extLst>
          </p:cNvPr>
          <p:cNvSpPr txBox="1"/>
          <p:nvPr/>
        </p:nvSpPr>
        <p:spPr>
          <a:xfrm>
            <a:off x="762000" y="2085042"/>
            <a:ext cx="4318000" cy="343683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事件：台风、疫情、奥运；同时设置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Normal Period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基线：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LSTM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DiffTraj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等深度模型，以及多类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LLM-based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指标：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 / SD / CD / SGD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四个分布的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JSD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，越低越好。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主干：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GPT-4o-mini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K=3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分钟轨迹粒度。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A1087F0-1A4B-3719-3000-FD87DCEF8540}"/>
              </a:ext>
            </a:extLst>
          </p:cNvPr>
          <p:cNvSpPr/>
          <p:nvPr/>
        </p:nvSpPr>
        <p:spPr>
          <a:xfrm>
            <a:off x="5461000" y="1270000"/>
            <a:ext cx="16510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048C5A-B872-0449-08F6-AB162B70EB25}"/>
              </a:ext>
            </a:extLst>
          </p:cNvPr>
          <p:cNvSpPr txBox="1"/>
          <p:nvPr/>
        </p:nvSpPr>
        <p:spPr>
          <a:xfrm>
            <a:off x="5511800" y="1295400"/>
            <a:ext cx="15494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Table 5: Main Results</a:t>
            </a:r>
            <a:endParaRPr lang="zh-CN" altLang="en-US" sz="900" b="1" dirty="0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80ED3-862B-EC8F-77FC-8608E5809F36}"/>
              </a:ext>
            </a:extLst>
          </p:cNvPr>
          <p:cNvSpPr/>
          <p:nvPr/>
        </p:nvSpPr>
        <p:spPr>
          <a:xfrm>
            <a:off x="5372100" y="1612900"/>
            <a:ext cx="5803900" cy="421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FD2631-8CFB-979D-6241-0905C470AA3E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3949F6-3B9A-A063-244D-F2AD25392645}"/>
              </a:ext>
            </a:extLst>
          </p:cNvPr>
          <p:cNvSpPr txBox="1"/>
          <p:nvPr/>
        </p:nvSpPr>
        <p:spPr>
          <a:xfrm>
            <a:off x="558800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BF3D12B-F2BC-A6C2-88E0-0E45E2261BD8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·10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C7F6BB2-4DB8-E71D-D016-2B08DD5C1CA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1"/>
          <a:stretch>
            <a:fillRect/>
          </a:stretch>
        </p:blipFill>
        <p:spPr>
          <a:xfrm>
            <a:off x="5461000" y="1839913"/>
            <a:ext cx="57023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28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1163-21FA-0FE4-4838-F28FDCBB3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B4D234F-1B9E-B8F0-A8B2-8AFC3FC45AD5}"/>
              </a:ext>
            </a:extLst>
          </p:cNvPr>
          <p:cNvSpPr txBox="1"/>
          <p:nvPr/>
        </p:nvSpPr>
        <p:spPr>
          <a:xfrm>
            <a:off x="635000" y="1397000"/>
            <a:ext cx="8890000" cy="75918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主要结果：三类事件上稳定最优</a:t>
            </a:r>
          </a:p>
          <a:p>
            <a:endParaRPr lang="zh-CN" altLang="en-US" sz="2300" b="1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A7A80A-4CDB-CF52-499C-1B35B59E3E71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144C60-D838-736A-E4AF-229775D2410F}"/>
              </a:ext>
            </a:extLst>
          </p:cNvPr>
          <p:cNvSpPr txBox="1"/>
          <p:nvPr/>
        </p:nvSpPr>
        <p:spPr>
          <a:xfrm>
            <a:off x="762000" y="2085042"/>
            <a:ext cx="4318000" cy="282128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Table 5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是实验结果：</a:t>
            </a:r>
            <a:r>
              <a:rPr lang="en-US" altLang="zh-CN" sz="2000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ELLMob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在三类事件上整体最优。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相比最强基线，论文报告平均提升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46.9%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优势不仅来自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能读事件，而来自显式冲突调和机制。</a:t>
            </a: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6E4C1CA-CFC7-7988-B151-585587E97BF0}"/>
              </a:ext>
            </a:extLst>
          </p:cNvPr>
          <p:cNvSpPr/>
          <p:nvPr/>
        </p:nvSpPr>
        <p:spPr>
          <a:xfrm>
            <a:off x="5461000" y="1270000"/>
            <a:ext cx="16510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9D13A0-694D-0216-3C85-1E7CE9051C81}"/>
              </a:ext>
            </a:extLst>
          </p:cNvPr>
          <p:cNvSpPr txBox="1"/>
          <p:nvPr/>
        </p:nvSpPr>
        <p:spPr>
          <a:xfrm>
            <a:off x="5511800" y="1295400"/>
            <a:ext cx="15494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Table 5: Main Results</a:t>
            </a:r>
            <a:endParaRPr lang="zh-CN" altLang="en-US" sz="900" b="1" dirty="0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51B307-45AE-34EA-52FF-CA8A097F8F52}"/>
              </a:ext>
            </a:extLst>
          </p:cNvPr>
          <p:cNvSpPr/>
          <p:nvPr/>
        </p:nvSpPr>
        <p:spPr>
          <a:xfrm>
            <a:off x="5372100" y="1612900"/>
            <a:ext cx="5803900" cy="421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DC8DF2-5AA1-43F1-851C-096BAB4D29EF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F7C9DD-991C-70D1-9864-C9BE893F4598}"/>
              </a:ext>
            </a:extLst>
          </p:cNvPr>
          <p:cNvSpPr txBox="1"/>
          <p:nvPr/>
        </p:nvSpPr>
        <p:spPr>
          <a:xfrm>
            <a:off x="558800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72E175-B212-71DF-1232-F24EF183DB40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·11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800B670-784F-778F-D2EC-DE528EBDF40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1"/>
          <a:stretch>
            <a:fillRect/>
          </a:stretch>
        </p:blipFill>
        <p:spPr>
          <a:xfrm>
            <a:off x="5461000" y="1839913"/>
            <a:ext cx="57023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3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8D68AC8-3D6A-43C4-4989-377292C924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" r="2178" b="16785"/>
          <a:stretch>
            <a:fillRect/>
          </a:stretch>
        </p:blipFill>
        <p:spPr>
          <a:xfrm>
            <a:off x="2045052" y="2333718"/>
            <a:ext cx="8101896" cy="452428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A123164-CC33-8AE9-940A-ED75BE2550D5}"/>
              </a:ext>
            </a:extLst>
          </p:cNvPr>
          <p:cNvSpPr txBox="1"/>
          <p:nvPr/>
        </p:nvSpPr>
        <p:spPr>
          <a:xfrm>
            <a:off x="292276" y="1242723"/>
            <a:ext cx="2805947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消融实验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535139-423B-8D80-4150-786C9850D626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A17A11-BFE2-C976-2C3B-AB189B8EF028}"/>
              </a:ext>
            </a:extLst>
          </p:cNvPr>
          <p:cNvSpPr txBox="1"/>
          <p:nvPr/>
        </p:nvSpPr>
        <p:spPr>
          <a:xfrm>
            <a:off x="292276" y="1647962"/>
            <a:ext cx="1129439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w/o I.A.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：缺少个体习惯约束，容易过度服从事件。</a:t>
            </a: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w/o E.A.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：缺少事件约束，容易回到日常轨迹。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1F726B-FA70-3EBC-8146-6452E9BC3EED}"/>
              </a:ext>
            </a:extLst>
          </p:cNvPr>
          <p:cNvGrpSpPr/>
          <p:nvPr/>
        </p:nvGrpSpPr>
        <p:grpSpPr>
          <a:xfrm>
            <a:off x="292276" y="2593050"/>
            <a:ext cx="2095500" cy="254000"/>
            <a:chOff x="241476" y="2570159"/>
            <a:chExt cx="2095500" cy="25400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A9C68E8-9AFE-0453-7DEC-F5E02E483123}"/>
                </a:ext>
              </a:extLst>
            </p:cNvPr>
            <p:cNvSpPr/>
            <p:nvPr/>
          </p:nvSpPr>
          <p:spPr>
            <a:xfrm>
              <a:off x="241476" y="2570159"/>
              <a:ext cx="2095500" cy="254000"/>
            </a:xfrm>
            <a:prstGeom prst="roundRect">
              <a:avLst/>
            </a:prstGeom>
            <a:solidFill>
              <a:srgbClr val="DCE7F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43404C7-32F9-320F-D675-6FD08A255D55}"/>
                </a:ext>
              </a:extLst>
            </p:cNvPr>
            <p:cNvSpPr txBox="1"/>
            <p:nvPr/>
          </p:nvSpPr>
          <p:spPr>
            <a:xfrm>
              <a:off x="292276" y="2595559"/>
              <a:ext cx="1993900" cy="189796"/>
            </a:xfrm>
            <a:prstGeom prst="rect">
              <a:avLst/>
            </a:prstGeom>
            <a:noFill/>
          </p:spPr>
          <p:txBody>
            <a:bodyPr vert="horz" wrap="square" lIns="25400" tIns="25400" rIns="25400" bIns="25400" rtlCol="0">
              <a:spAutoFit/>
            </a:bodyPr>
            <a:lstStyle/>
            <a:p>
              <a:pPr algn="ctr"/>
              <a:r>
                <a:rPr lang="en-US" altLang="zh-CN" sz="900" b="1" dirty="0">
                  <a:solidFill>
                    <a:srgbClr val="0033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Figure 4: Alignment Analysis</a:t>
              </a:r>
              <a:endParaRPr lang="zh-CN" altLang="en-US" sz="9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B05E61B8-5219-C6BA-BD44-23443E971663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41AFA0C-EEFF-73E7-492E-83CD2B2EBA6D}"/>
              </a:ext>
            </a:extLst>
          </p:cNvPr>
          <p:cNvSpPr txBox="1"/>
          <p:nvPr/>
        </p:nvSpPr>
        <p:spPr>
          <a:xfrm>
            <a:off x="558800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68B271-2B19-A93A-EA85-6CD2E72F0570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·12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CE168D-518D-28CC-FF88-2700A19EC8C3}"/>
              </a:ext>
            </a:extLst>
          </p:cNvPr>
          <p:cNvSpPr txBox="1"/>
          <p:nvPr/>
        </p:nvSpPr>
        <p:spPr>
          <a:xfrm>
            <a:off x="6289097" y="1647962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w/o Eve. Ext.</a:t>
            </a:r>
            <a:r>
              <a:rPr lang="zh-CN" altLang="en-US" sz="18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：事件信息结构化不足，外部约束变弱。</a:t>
            </a:r>
          </a:p>
          <a:p>
            <a:r>
              <a:rPr lang="en-US" altLang="zh-CN" sz="18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COVID </a:t>
            </a:r>
            <a:r>
              <a:rPr lang="zh-CN" altLang="en-US" sz="18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场景中去掉 </a:t>
            </a:r>
            <a:r>
              <a:rPr lang="en-US" altLang="zh-CN" sz="18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external alignment </a:t>
            </a:r>
            <a:r>
              <a:rPr lang="zh-CN" altLang="en-US" sz="18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造成明显退化。</a:t>
            </a:r>
          </a:p>
        </p:txBody>
      </p:sp>
    </p:spTree>
    <p:extLst>
      <p:ext uri="{BB962C8B-B14F-4D97-AF65-F5344CB8AC3E}">
        <p14:creationId xmlns:p14="http://schemas.microsoft.com/office/powerpoint/2010/main" val="586094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6B707E-9DB9-0688-1761-DEBFFC51BC83}"/>
              </a:ext>
            </a:extLst>
          </p:cNvPr>
          <p:cNvSpPr txBox="1"/>
          <p:nvPr/>
        </p:nvSpPr>
        <p:spPr>
          <a:xfrm>
            <a:off x="635000" y="1460500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定性案例：事件约束下的有限调和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E3684A-0623-9E75-5FF6-0D201966A6D7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EDCF9E-DA4F-F6A5-6D06-BD588D6A8FCE}"/>
              </a:ext>
            </a:extLst>
          </p:cNvPr>
          <p:cNvSpPr txBox="1"/>
          <p:nvPr/>
        </p:nvSpPr>
        <p:spPr>
          <a:xfrm>
            <a:off x="736600" y="2146300"/>
            <a:ext cx="4191000" cy="22057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用户有稳定餐饮探索偏好。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初始计划“待在家”虽然符合疫情约束，但过度偏离用户模式。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审核反馈后，轨迹修正为有限餐饮活动，更接近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ground truth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0FDF0C8-D943-C5E5-3ABE-CEF941BA5BFA}"/>
              </a:ext>
            </a:extLst>
          </p:cNvPr>
          <p:cNvSpPr/>
          <p:nvPr/>
        </p:nvSpPr>
        <p:spPr>
          <a:xfrm>
            <a:off x="5435601" y="1184370"/>
            <a:ext cx="16510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6E1E22-D780-1115-8FD9-6D75829BEE86}"/>
              </a:ext>
            </a:extLst>
          </p:cNvPr>
          <p:cNvSpPr txBox="1"/>
          <p:nvPr/>
        </p:nvSpPr>
        <p:spPr>
          <a:xfrm>
            <a:off x="5486401" y="1209770"/>
            <a:ext cx="15494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Figure 5: Case Study</a:t>
            </a:r>
            <a:endParaRPr lang="zh-CN" altLang="en-US" sz="900" b="1" dirty="0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628BA8-EC62-6C39-F188-4219DACA2EE3}"/>
              </a:ext>
            </a:extLst>
          </p:cNvPr>
          <p:cNvSpPr/>
          <p:nvPr/>
        </p:nvSpPr>
        <p:spPr>
          <a:xfrm>
            <a:off x="5435601" y="1513286"/>
            <a:ext cx="5651500" cy="523041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E59BEAC-5885-0073-4968-7A28FD8B57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2" t="5056" r="7508" b="17053"/>
          <a:stretch>
            <a:fillRect/>
          </a:stretch>
        </p:blipFill>
        <p:spPr>
          <a:xfrm>
            <a:off x="5889913" y="1663119"/>
            <a:ext cx="4666673" cy="4953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CCD6F14-4414-C946-7E14-87E7913AF182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13B253-1A6C-B28C-1944-4CD8163E6016}"/>
              </a:ext>
            </a:extLst>
          </p:cNvPr>
          <p:cNvSpPr txBox="1"/>
          <p:nvPr/>
        </p:nvSpPr>
        <p:spPr>
          <a:xfrm>
            <a:off x="558800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ADDA91-A9A1-AA6B-2844-BEEB0A688575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·13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871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7C329E3-8C90-ECAE-9A57-53459E82B4AF}"/>
              </a:ext>
            </a:extLst>
          </p:cNvPr>
          <p:cNvSpPr txBox="1"/>
          <p:nvPr/>
        </p:nvSpPr>
        <p:spPr>
          <a:xfrm>
            <a:off x="635000" y="1346200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空间模式与实用代价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B0A0EE-4696-BF0C-6765-0D6FF7BA42E8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65C8D56-4D5E-312F-7288-EDDE244D4095}"/>
              </a:ext>
            </a:extLst>
          </p:cNvPr>
          <p:cNvSpPr/>
          <p:nvPr/>
        </p:nvSpPr>
        <p:spPr>
          <a:xfrm>
            <a:off x="736600" y="1854200"/>
            <a:ext cx="19050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D4580D-0CE6-1606-7B56-3BB0E6B37478}"/>
              </a:ext>
            </a:extLst>
          </p:cNvPr>
          <p:cNvSpPr txBox="1"/>
          <p:nvPr/>
        </p:nvSpPr>
        <p:spPr>
          <a:xfrm>
            <a:off x="787400" y="1879600"/>
            <a:ext cx="18034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Figure 6: Spatial Patterns</a:t>
            </a:r>
            <a:endParaRPr lang="zh-CN" altLang="en-US" sz="900" b="1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F723FB-3D78-0719-2AA7-F05416195532}"/>
              </a:ext>
            </a:extLst>
          </p:cNvPr>
          <p:cNvSpPr/>
          <p:nvPr/>
        </p:nvSpPr>
        <p:spPr>
          <a:xfrm>
            <a:off x="723900" y="2197099"/>
            <a:ext cx="6248400" cy="409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FD3B383-E4DF-E7E5-6B89-1E7062C975F1}"/>
              </a:ext>
            </a:extLst>
          </p:cNvPr>
          <p:cNvSpPr/>
          <p:nvPr/>
        </p:nvSpPr>
        <p:spPr>
          <a:xfrm>
            <a:off x="7493000" y="1854200"/>
            <a:ext cx="1651000" cy="254000"/>
          </a:xfrm>
          <a:prstGeom prst="roundRect">
            <a:avLst/>
          </a:prstGeom>
          <a:solidFill>
            <a:srgbClr val="DCE7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DCB283-4F79-FAC9-B805-363D4F5B36C0}"/>
              </a:ext>
            </a:extLst>
          </p:cNvPr>
          <p:cNvSpPr txBox="1"/>
          <p:nvPr/>
        </p:nvSpPr>
        <p:spPr>
          <a:xfrm>
            <a:off x="7543800" y="1879600"/>
            <a:ext cx="15494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Table 8: Efficiency</a:t>
            </a:r>
            <a:endParaRPr lang="zh-CN" altLang="en-US" sz="900" b="1">
              <a:solidFill>
                <a:srgbClr val="0033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911153-D8E5-193E-CD49-0A09C6E8642D}"/>
              </a:ext>
            </a:extLst>
          </p:cNvPr>
          <p:cNvSpPr/>
          <p:nvPr/>
        </p:nvSpPr>
        <p:spPr>
          <a:xfrm>
            <a:off x="7480300" y="2197100"/>
            <a:ext cx="3835400" cy="218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C4D2F64-B0BD-0FF3-9C5C-D3DA18584E37}"/>
              </a:ext>
            </a:extLst>
          </p:cNvPr>
          <p:cNvSpPr txBox="1"/>
          <p:nvPr/>
        </p:nvSpPr>
        <p:spPr>
          <a:xfrm>
            <a:off x="7493000" y="4555108"/>
            <a:ext cx="3926840" cy="189795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空间热区更接近真实分布。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en-US" altLang="zh-CN" sz="2000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ELLMob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推理成本高于单轮模型。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但比 </a:t>
            </a:r>
            <a:r>
              <a:rPr lang="en-US" altLang="zh-CN" sz="2000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Reflexion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等通用反思框架更经济。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C9756B-D01D-3725-ED09-06E91FACFF5A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1EE1FD-6FF8-87D4-7F67-2D0FCD475B8C}"/>
              </a:ext>
            </a:extLst>
          </p:cNvPr>
          <p:cNvSpPr txBox="1"/>
          <p:nvPr/>
        </p:nvSpPr>
        <p:spPr>
          <a:xfrm>
            <a:off x="558800" y="188442"/>
            <a:ext cx="2032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4A61EF-389B-0265-F4E6-4CD69769A0B7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·14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0E92F38-FDBF-E7B9-A1A0-F5833E725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77" t="17705" r="14259"/>
          <a:stretch>
            <a:fillRect/>
          </a:stretch>
        </p:blipFill>
        <p:spPr>
          <a:xfrm>
            <a:off x="7548880" y="2449448"/>
            <a:ext cx="3698240" cy="153835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03815F2-F82D-E391-879D-235282E49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0" y="2298933"/>
            <a:ext cx="5933440" cy="398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4B7EF1A-DAF5-8F7F-2E3A-533C94447793}"/>
              </a:ext>
            </a:extLst>
          </p:cNvPr>
          <p:cNvSpPr txBox="1"/>
          <p:nvPr/>
        </p:nvSpPr>
        <p:spPr>
          <a:xfrm>
            <a:off x="635000" y="1006516"/>
            <a:ext cx="8890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300" b="1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贡献、局限讨论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34B335-A525-2FC6-5C8A-0B7084FDBCA3}"/>
              </a:ext>
            </a:extLst>
          </p:cNvPr>
          <p:cNvSpPr txBox="1"/>
          <p:nvPr/>
        </p:nvSpPr>
        <p:spPr>
          <a:xfrm>
            <a:off x="635000" y="6413500"/>
            <a:ext cx="1905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800">
                <a:solidFill>
                  <a:srgbClr val="596575"/>
                </a:solidFill>
                <a:latin typeface="Aptos" panose="020B0004020202020204" pitchFamily="34" charset="0"/>
              </a:rPr>
              <a:t>ELLMob | Group Meeting</a:t>
            </a:r>
            <a:endParaRPr lang="zh-CN" altLang="en-US" sz="800">
              <a:solidFill>
                <a:srgbClr val="596575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2BEB79E-7635-6022-F9BB-B7084FA77FCB}"/>
              </a:ext>
            </a:extLst>
          </p:cNvPr>
          <p:cNvSpPr/>
          <p:nvPr/>
        </p:nvSpPr>
        <p:spPr>
          <a:xfrm>
            <a:off x="736600" y="2263311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5EFFB6-DBA4-21C5-63C6-78AA325E73EA}"/>
              </a:ext>
            </a:extLst>
          </p:cNvPr>
          <p:cNvSpPr/>
          <p:nvPr/>
        </p:nvSpPr>
        <p:spPr>
          <a:xfrm>
            <a:off x="736600" y="2263311"/>
            <a:ext cx="76200" cy="3111500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EFA95D-7386-B50A-A828-82CC2318DA1C}"/>
              </a:ext>
            </a:extLst>
          </p:cNvPr>
          <p:cNvSpPr txBox="1"/>
          <p:nvPr/>
        </p:nvSpPr>
        <p:spPr>
          <a:xfrm>
            <a:off x="965200" y="2441111"/>
            <a:ext cx="2895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贡献 </a:t>
            </a:r>
            <a:r>
              <a:rPr lang="en-US" altLang="zh-CN" sz="20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00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：数据基准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BB305E-44C3-F59D-C999-FBE8D0C08313}"/>
              </a:ext>
            </a:extLst>
          </p:cNvPr>
          <p:cNvSpPr txBox="1"/>
          <p:nvPr/>
        </p:nvSpPr>
        <p:spPr>
          <a:xfrm>
            <a:off x="965200" y="2796711"/>
            <a:ext cx="28956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 </a:t>
            </a:r>
            <a:r>
              <a:rPr lang="en-US" altLang="zh-CN" sz="2000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EventMob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，补上事件标注移动性生成评估缺口。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4C26993-F23A-8B15-06E7-ADCFD14BAB53}"/>
              </a:ext>
            </a:extLst>
          </p:cNvPr>
          <p:cNvSpPr/>
          <p:nvPr/>
        </p:nvSpPr>
        <p:spPr>
          <a:xfrm>
            <a:off x="4445000" y="2263311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80DF25-A1CC-EA88-A2CA-008B7FD45CC6}"/>
              </a:ext>
            </a:extLst>
          </p:cNvPr>
          <p:cNvSpPr/>
          <p:nvPr/>
        </p:nvSpPr>
        <p:spPr>
          <a:xfrm>
            <a:off x="4445000" y="2263311"/>
            <a:ext cx="76200" cy="3111500"/>
          </a:xfrm>
          <a:prstGeom prst="rect">
            <a:avLst/>
          </a:prstGeom>
          <a:solidFill>
            <a:srgbClr val="2E6F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F8B99D-94B0-DF5E-78FE-C2433516233B}"/>
              </a:ext>
            </a:extLst>
          </p:cNvPr>
          <p:cNvSpPr txBox="1"/>
          <p:nvPr/>
        </p:nvSpPr>
        <p:spPr>
          <a:xfrm>
            <a:off x="4673600" y="2441111"/>
            <a:ext cx="2895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贡献 </a:t>
            </a:r>
            <a:r>
              <a:rPr lang="en-US" altLang="zh-CN" sz="2000" b="1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：调和框架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D3097BD-4C24-8DE3-41FE-7BC1FAE410B8}"/>
              </a:ext>
            </a:extLst>
          </p:cNvPr>
          <p:cNvSpPr txBox="1"/>
          <p:nvPr/>
        </p:nvSpPr>
        <p:spPr>
          <a:xfrm>
            <a:off x="4673600" y="2796711"/>
            <a:ext cx="28956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Gist +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双层审核，把习惯与事件约束的冲突显式化。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CA05075-B14E-B17D-AAC2-46ED9D0C7B81}"/>
              </a:ext>
            </a:extLst>
          </p:cNvPr>
          <p:cNvSpPr/>
          <p:nvPr/>
        </p:nvSpPr>
        <p:spPr>
          <a:xfrm>
            <a:off x="8153400" y="2263311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0F360C-E896-F2BD-7FCE-EACAE0907D0C}"/>
              </a:ext>
            </a:extLst>
          </p:cNvPr>
          <p:cNvSpPr/>
          <p:nvPr/>
        </p:nvSpPr>
        <p:spPr>
          <a:xfrm>
            <a:off x="8153400" y="2263311"/>
            <a:ext cx="76200" cy="3111500"/>
          </a:xfrm>
          <a:prstGeom prst="rect">
            <a:avLst/>
          </a:prstGeom>
          <a:solidFill>
            <a:srgbClr val="C28B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8FB5C2-4B3E-D329-AEE8-B6DFEC0110CE}"/>
              </a:ext>
            </a:extLst>
          </p:cNvPr>
          <p:cNvSpPr txBox="1"/>
          <p:nvPr/>
        </p:nvSpPr>
        <p:spPr>
          <a:xfrm>
            <a:off x="8382000" y="2441111"/>
            <a:ext cx="2895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 dirty="0">
                <a:solidFill>
                  <a:srgbClr val="C28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讨论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99AC561-72AB-C9F4-8570-FE31CCA2D2BB}"/>
              </a:ext>
            </a:extLst>
          </p:cNvPr>
          <p:cNvSpPr txBox="1"/>
          <p:nvPr/>
        </p:nvSpPr>
        <p:spPr>
          <a:xfrm>
            <a:off x="8382000" y="2796711"/>
            <a:ext cx="2895600" cy="15901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LBSN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人群偏差、（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FTT 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是否构成足够强的理论支撑。</a:t>
            </a:r>
            <a:endParaRPr lang="en-US" altLang="zh-CN" sz="20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）多轮模型推理延迟高、</a:t>
            </a:r>
            <a:r>
              <a:rPr lang="en-US" altLang="zh-CN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r>
              <a:rPr lang="zh-CN" altLang="en-US" sz="20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成本高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10207A-58A8-A172-9778-AB8342C96F40}"/>
              </a:ext>
            </a:extLst>
          </p:cNvPr>
          <p:cNvSpPr/>
          <p:nvPr/>
        </p:nvSpPr>
        <p:spPr>
          <a:xfrm>
            <a:off x="0" y="-1"/>
            <a:ext cx="12192000" cy="920627"/>
          </a:xfrm>
          <a:prstGeom prst="rect">
            <a:avLst/>
          </a:prstGeom>
          <a:solidFill>
            <a:srgbClr val="00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9ADCD8-6F65-D5A6-8462-0AC973ED781B}"/>
              </a:ext>
            </a:extLst>
          </p:cNvPr>
          <p:cNvSpPr txBox="1"/>
          <p:nvPr/>
        </p:nvSpPr>
        <p:spPr>
          <a:xfrm>
            <a:off x="558800" y="188442"/>
            <a:ext cx="4236720" cy="103618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研究结论与展望</a:t>
            </a:r>
          </a:p>
          <a:p>
            <a:endParaRPr lang="zh-CN" altLang="en-US" sz="32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98A25C-F354-8D2D-2CDD-8FEC9D4462D4}"/>
              </a:ext>
            </a:extLst>
          </p:cNvPr>
          <p:cNvSpPr txBox="1"/>
          <p:nvPr/>
        </p:nvSpPr>
        <p:spPr>
          <a:xfrm>
            <a:off x="10744200" y="365413"/>
            <a:ext cx="889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ICLR 2026 ·14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87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2323</Words>
  <Application>Microsoft Office PowerPoint</Application>
  <PresentationFormat>宽屏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Microsoft YaHei</vt:lpstr>
      <vt:lpstr>Aptos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pdf2ppt_skill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pdf2ppt_skill</dc:creator>
  <cp:lastModifiedBy>pdf2ppt_skill</cp:lastModifiedBy>
  <cp:revision>1</cp:revision>
  <dcterms:created xsi:type="dcterms:W3CDTF">2026-04-25T12:29:58Z</dcterms:created>
  <dcterms:modified xsi:type="dcterms:W3CDTF">2026-04-25T13:55:58Z</dcterms:modified>
</cp:coreProperties>
</file>